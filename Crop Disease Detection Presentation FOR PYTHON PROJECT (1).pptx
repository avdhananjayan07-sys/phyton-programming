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6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2.png"/><Relationship Id="rId7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9.png"/><Relationship Id="rId7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7.png"/><Relationship Id="rId10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5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54472"/>
            <a:ext cx="13223116" cy="74380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1654075"/>
            <a:ext cx="116014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 i="0" u="none" dirty="0">
                <a:solidFill>
                  <a:srgbClr val="064E3B"/>
                </a:solidFill>
                <a:latin typeface="Poppins"/>
              </a:rPr>
              <a:t>Crop Disease Detection Using Image Processing Using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86813" y="2894111"/>
            <a:ext cx="12378813" cy="3506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>
                <a:solidFill>
                  <a:srgbClr val="166534"/>
                </a:solidFill>
                <a:latin typeface="DM Sans Medium"/>
              </a:rPr>
              <a:t>Automated Computer Vision &amp; Deep Learning Framework for Smart Agriculture</a:t>
            </a:r>
            <a:r>
              <a:rPr lang="en-IN" sz="1650" b="0" i="0" u="none" dirty="0">
                <a:solidFill>
                  <a:srgbClr val="166534"/>
                </a:solidFill>
                <a:latin typeface="DM Sans Medium"/>
              </a:rPr>
              <a:t>         SUBJECT CODE</a:t>
            </a:r>
          </a:p>
          <a:p>
            <a:pPr algn="ctr">
              <a:lnSpc>
                <a:spcPts val="2475"/>
              </a:lnSpc>
            </a:pPr>
            <a:r>
              <a:rPr lang="en-IN" sz="1650" dirty="0">
                <a:solidFill>
                  <a:srgbClr val="166534"/>
                </a:solidFill>
                <a:latin typeface="DM Sans Medium"/>
              </a:rPr>
              <a:t>                                                                                                                                                              CSA0801</a:t>
            </a:r>
          </a:p>
          <a:p>
            <a:pPr algn="ctr">
              <a:lnSpc>
                <a:spcPts val="2475"/>
              </a:lnSpc>
            </a:pPr>
            <a:endParaRPr lang="en-IN" sz="1650" b="0" i="0" u="none" dirty="0">
              <a:solidFill>
                <a:srgbClr val="166534"/>
              </a:solidFill>
              <a:latin typeface="DM Sans Medium"/>
            </a:endParaRPr>
          </a:p>
          <a:p>
            <a:pPr algn="ctr">
              <a:lnSpc>
                <a:spcPts val="2475"/>
              </a:lnSpc>
            </a:pPr>
            <a:r>
              <a:rPr lang="en-IN" sz="1650" dirty="0">
                <a:solidFill>
                  <a:srgbClr val="166534"/>
                </a:solidFill>
                <a:latin typeface="DM Sans Medium"/>
              </a:rPr>
              <a:t>Presented by</a:t>
            </a:r>
          </a:p>
          <a:p>
            <a:pPr algn="ctr">
              <a:lnSpc>
                <a:spcPts val="2475"/>
              </a:lnSpc>
            </a:pPr>
            <a:endParaRPr lang="en-IN" sz="1650" dirty="0">
              <a:solidFill>
                <a:srgbClr val="166534"/>
              </a:solidFill>
              <a:latin typeface="DM Sans Medium"/>
            </a:endParaRPr>
          </a:p>
          <a:p>
            <a:pPr algn="ctr">
              <a:lnSpc>
                <a:spcPts val="2475"/>
              </a:lnSpc>
            </a:pPr>
            <a:r>
              <a:rPr lang="en-IN" sz="1650" dirty="0">
                <a:solidFill>
                  <a:srgbClr val="166534"/>
                </a:solidFill>
                <a:latin typeface="DM Sans Medium"/>
              </a:rPr>
              <a:t>GOKUL K  1911260026</a:t>
            </a:r>
          </a:p>
          <a:p>
            <a:pPr algn="ctr">
              <a:lnSpc>
                <a:spcPts val="2475"/>
              </a:lnSpc>
            </a:pPr>
            <a:r>
              <a:rPr lang="en-IN" sz="1650" dirty="0">
                <a:solidFill>
                  <a:srgbClr val="166534"/>
                </a:solidFill>
                <a:latin typeface="DM Sans Medium"/>
              </a:rPr>
              <a:t>              TAMIZHARASAN  1911260080</a:t>
            </a:r>
          </a:p>
          <a:p>
            <a:pPr algn="ctr">
              <a:lnSpc>
                <a:spcPts val="2475"/>
              </a:lnSpc>
            </a:pPr>
            <a:r>
              <a:rPr lang="en-IN" sz="1650" dirty="0">
                <a:solidFill>
                  <a:srgbClr val="166534"/>
                </a:solidFill>
                <a:latin typeface="DM Sans Medium"/>
              </a:rPr>
              <a:t>              DHANANJAYAN1921260038</a:t>
            </a:r>
          </a:p>
          <a:p>
            <a:pPr algn="ctr">
              <a:lnSpc>
                <a:spcPts val="2475"/>
              </a:lnSpc>
            </a:pPr>
            <a:r>
              <a:rPr lang="en-IN" sz="1650" b="0" i="0" u="none" dirty="0">
                <a:solidFill>
                  <a:srgbClr val="166534"/>
                </a:solidFill>
                <a:latin typeface="DM Sans Medium"/>
              </a:rPr>
              <a:t>                                                                                                                                        FACULTY</a:t>
            </a:r>
          </a:p>
          <a:p>
            <a:pPr algn="ctr">
              <a:lnSpc>
                <a:spcPts val="2475"/>
              </a:lnSpc>
            </a:pPr>
            <a:r>
              <a:rPr lang="en-IN" sz="1650" dirty="0">
                <a:solidFill>
                  <a:srgbClr val="166534"/>
                </a:solidFill>
                <a:latin typeface="DM Sans Medium"/>
              </a:rPr>
              <a:t>                                                                                                                                       Dr SAMASON EBENEZAR</a:t>
            </a:r>
          </a:p>
          <a:p>
            <a:pPr algn="ctr">
              <a:lnSpc>
                <a:spcPts val="2475"/>
              </a:lnSpc>
            </a:pPr>
            <a:endParaRPr sz="1650" b="0" i="0" u="none" dirty="0">
              <a:solidFill>
                <a:srgbClr val="166534"/>
              </a:solidFill>
              <a:latin typeface="DM Sans Medium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6138599-16BD-3582-2AE0-5F7EAD4C5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5613" y="0"/>
            <a:ext cx="2959510" cy="6742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A8CA1EC-A1ED-46EF-4967-B67FE821B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36" y="60960"/>
            <a:ext cx="929721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850" y="2083593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85975"/>
            <a:ext cx="5143500" cy="48577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A </a:t>
            </a:r>
            <a:r>
              <a:rPr sz="1275" b="1" i="0" u="none">
                <a:solidFill>
                  <a:srgbClr val="334155"/>
                </a:solidFill>
                <a:latin typeface="DM Sans"/>
              </a:rPr>
              <a:t>Python-based application</a:t>
            </a:r>
            <a:r>
              <a:rPr sz="1275" b="0" i="0" u="none">
                <a:solidFill>
                  <a:srgbClr val="334155"/>
                </a:solidFill>
                <a:latin typeface="DM Sans"/>
              </a:rPr>
              <a:t> utilizing computer vision to detect crop leaf ailments early.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2683668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686050"/>
            <a:ext cx="5143500" cy="48577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Processes digital leaf images captured from farms using standard cameras or mobile devices.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50" y="3283743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286125"/>
            <a:ext cx="5143500" cy="48577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Applies image conversion, filtering, and thresholding using Python's </a:t>
            </a:r>
            <a:r>
              <a:rPr sz="1275" b="1" i="0" u="none">
                <a:solidFill>
                  <a:srgbClr val="334155"/>
                </a:solidFill>
                <a:latin typeface="DM Sans"/>
              </a:rPr>
              <a:t>OpenCV</a:t>
            </a:r>
            <a:r>
              <a:rPr sz="1275" b="0" i="0" u="none">
                <a:solidFill>
                  <a:srgbClr val="334155"/>
                </a:solidFill>
                <a:latin typeface="DM Sans"/>
              </a:rPr>
              <a:t> library.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3883818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886200"/>
            <a:ext cx="5143500" cy="48577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Utilizes Machine Learning / Deep Learning algorithms to recognize infection symptoms automatically.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4483893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486275"/>
            <a:ext cx="5143500" cy="48577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Calculates infection severity and delivers actionable disease diagnosis to farmers.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5083968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086350"/>
            <a:ext cx="5143500" cy="48577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Extensible towards web dashboards (Streamlit) and mobile/drone field monitoring solutions.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85975"/>
            <a:ext cx="2752725" cy="2000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851534"/>
            <a:ext cx="1160145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lang="en-IN" sz="2700" b="1" i="0" u="none" dirty="0">
              <a:solidFill>
                <a:srgbClr val="064E3B"/>
              </a:solidFill>
              <a:latin typeface="Poppins"/>
            </a:endParaRPr>
          </a:p>
          <a:p>
            <a:pPr algn="l"/>
            <a:r>
              <a:rPr sz="2700" b="1" i="0" u="none" dirty="0">
                <a:solidFill>
                  <a:srgbClr val="064E3B"/>
                </a:solidFill>
                <a:latin typeface="Poppins"/>
              </a:rPr>
              <a:t>Introduction</a:t>
            </a:r>
          </a:p>
        </p:txBody>
      </p:sp>
      <p:sp>
        <p:nvSpPr>
          <p:cNvPr id="17" name="Rectangle 16"/>
          <p:cNvSpPr/>
          <p:nvPr/>
        </p:nvSpPr>
        <p:spPr>
          <a:xfrm flipV="1">
            <a:off x="571500" y="1659672"/>
            <a:ext cx="11049000" cy="45719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75E4B20-1C2C-CCD8-C04C-9188663D0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36" y="60960"/>
            <a:ext cx="929721" cy="115834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FDD7879-7E7B-116C-43A5-C402DC87AB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2854" y="-42949"/>
            <a:ext cx="2959510" cy="6742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" y="42862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57462"/>
            <a:ext cx="3492549" cy="2676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557462"/>
            <a:ext cx="3492549" cy="2676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557462"/>
            <a:ext cx="3492549" cy="2676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4218" y="3471862"/>
            <a:ext cx="314711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15803D"/>
                </a:solidFill>
                <a:latin typeface="Poppins SemiBold"/>
              </a:rPr>
              <a:t>Early Diagnosis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900487"/>
            <a:ext cx="2997249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Build an accurate Python workflow to automatically spot fungal, bacterial, and viral leaf infections prior to crop devastation.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2518" y="3471862"/>
            <a:ext cx="314711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15803D"/>
                </a:solidFill>
                <a:latin typeface="Poppins SemiBold"/>
              </a:rPr>
              <a:t>SDG 2: Zero Hunger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7449" y="3900487"/>
            <a:ext cx="2997249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Protects food production and maximizes yield quality by enabling timely pesticide application and preventing crop loss.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0817" y="3471862"/>
            <a:ext cx="314711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15803D"/>
                </a:solidFill>
                <a:latin typeface="Poppins SemiBold"/>
              </a:rPr>
              <a:t>SDG 15: Life on Land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75749" y="3900487"/>
            <a:ext cx="2997249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Promotes sustainable farming by reducing unnecessary chemical overuse through target-specific disease detection.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7675" y="2852737"/>
            <a:ext cx="400050" cy="400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3587" y="2852737"/>
            <a:ext cx="504825" cy="4000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4274" y="2852737"/>
            <a:ext cx="400050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2450" y="1147762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64E3B"/>
                </a:solidFill>
                <a:latin typeface="Poppins"/>
              </a:rPr>
              <a:t>Objectives &amp; SDG Alignment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2450" y="1595438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6E30CE9-7432-6310-3DC5-12414BCD18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13440" y="44840"/>
            <a:ext cx="2959510" cy="67429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23B3CE7-E84C-8CEC-5F6F-1D23D85CD9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636" y="60960"/>
            <a:ext cx="929721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328862"/>
          <a:ext cx="11048998" cy="3133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7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3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687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14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674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S.No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Research Paper Title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Authors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Advantages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Technologies Used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74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DM Sans"/>
                        </a:rPr>
                        <a:t>Plant Leaf Disease Detection using Deep Learning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DM Sans"/>
                        </a:rPr>
                        <a:t>Mohanty et al. (2016)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DM Sans"/>
                        </a:rPr>
                        <a:t>High classification accuracy (99.35%) across 14 crop species.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DM Sans"/>
                        </a:rPr>
                        <a:t>CNN, PlantVillage Dataset, TensorFlow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74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DM Sans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DM Sans"/>
                        </a:rPr>
                        <a:t>Review on Emerging Trends in Plant Disease Detection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DM Sans"/>
                        </a:rPr>
                        <a:t>Kartikeyan &amp; Shrivastava (2021)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DM Sans"/>
                        </a:rPr>
                        <a:t>Comprehensive study on color texture features and classifiers.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DM Sans"/>
                        </a:rPr>
                        <a:t>Digital Image Processing, SVM, KNN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674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DM Sans"/>
                        </a:rPr>
                        <a:t>Crop Disease Detection using Image Processing &amp; CNN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DM Sans"/>
                        </a:rPr>
                        <a:t>Thushar et al. (2022)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DM Sans"/>
                        </a:rPr>
                        <a:t>Automated segmentation and feature extraction for field images.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DM Sans"/>
                        </a:rPr>
                        <a:t>Python, OpenCV, K-Means Clustering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674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DM Sans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DM Sans"/>
                        </a:rPr>
                        <a:t>Leaf Disease Recognition Using Deep Learning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DM Sans"/>
                        </a:rPr>
                        <a:t>Joseph et al. (2024)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DM Sans"/>
                        </a:rPr>
                        <a:t>Real-time edge device capability and augmentation techniques.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DM Sans"/>
                        </a:rPr>
                        <a:t>PyTorch, Transfer Learning, MobileNet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781300"/>
            <a:ext cx="647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19200" y="2781300"/>
            <a:ext cx="28772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096494" y="2781300"/>
            <a:ext cx="19038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00303" y="2781300"/>
            <a:ext cx="33687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369028" y="2781300"/>
            <a:ext cx="22514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448050"/>
            <a:ext cx="647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19200" y="3448050"/>
            <a:ext cx="28772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096494" y="3448050"/>
            <a:ext cx="19038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00303" y="3448050"/>
            <a:ext cx="33687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369028" y="3448050"/>
            <a:ext cx="22514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4114800"/>
            <a:ext cx="647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19200" y="4114800"/>
            <a:ext cx="28772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096494" y="4114800"/>
            <a:ext cx="19038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00303" y="4114800"/>
            <a:ext cx="33687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69028" y="4114800"/>
            <a:ext cx="22514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4781550"/>
            <a:ext cx="647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19200" y="4781550"/>
            <a:ext cx="28772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096494" y="4781550"/>
            <a:ext cx="19038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00303" y="4781550"/>
            <a:ext cx="33687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369028" y="4781550"/>
            <a:ext cx="22514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1500" y="5448300"/>
            <a:ext cx="647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219200" y="5448300"/>
            <a:ext cx="28772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096494" y="5448300"/>
            <a:ext cx="19038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00303" y="5448300"/>
            <a:ext cx="33687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369028" y="5448300"/>
            <a:ext cx="22514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0550" y="1335881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64E3B"/>
                </a:solidFill>
                <a:latin typeface="Poppins"/>
              </a:rPr>
              <a:t>Literature 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1754981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4DFA559-6FD5-6A04-BFEC-42C8198B8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490" y="51783"/>
            <a:ext cx="2959510" cy="67429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6F3243C-B8FE-DC0B-0918-2CCEC4B2B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36" y="60960"/>
            <a:ext cx="929721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067175"/>
            <a:ext cx="11049000" cy="381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7968" y="4324350"/>
            <a:ext cx="266830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166534"/>
                </a:solidFill>
                <a:latin typeface="Poppins SemiBold"/>
              </a:rPr>
              <a:t>1. Image Acquisition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05350"/>
            <a:ext cx="254124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DM Sans"/>
              </a:rPr>
              <a:t>Capturing infected crop leaf samples and loading PlantVillage dataset via Python PIL/OpenCV.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3888" y="2709862"/>
            <a:ext cx="266830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166534"/>
                </a:solidFill>
                <a:latin typeface="Poppins SemiBold"/>
              </a:rPr>
              <a:t>2.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7419" y="3090862"/>
            <a:ext cx="254124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DM Sans"/>
              </a:rPr>
              <a:t>Resizing images, Gaussian blurring for noise removal, and HSV color transformation.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9808" y="4324350"/>
            <a:ext cx="266830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166534"/>
                </a:solidFill>
                <a:latin typeface="Poppins SemiBold"/>
              </a:rPr>
              <a:t>3. Feature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3339" y="4705350"/>
            <a:ext cx="254124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DM Sans"/>
              </a:rPr>
              <a:t>Segmenting diseased spots using thresholding and extracting texture (GLCM) or CNN feature maps.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5728" y="2709862"/>
            <a:ext cx="266830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166534"/>
                </a:solidFill>
                <a:latin typeface="Poppins SemiBold"/>
              </a:rPr>
              <a:t>4.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9259" y="3090862"/>
            <a:ext cx="254124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DM Sans"/>
              </a:rPr>
              <a:t>Passing features through trained Python model to identify disease type &amp; recommend treatment.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625" y="1190625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64E3B"/>
                </a:solidFill>
                <a:latin typeface="Poppins"/>
              </a:rPr>
              <a:t>System Methodology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6375" y="1622629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746870" y="39909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82790" y="39909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418709" y="39909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54629" y="39909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AD61E3C-A43A-B256-F45F-EE1AF397C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8565" y="12492"/>
            <a:ext cx="2959510" cy="67429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2429012-A56C-D831-ABC0-73B5A1F98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39" y="0"/>
            <a:ext cx="926672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86" y="2607467"/>
            <a:ext cx="5334000" cy="369500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07468"/>
            <a:ext cx="5334000" cy="36950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2902743"/>
            <a:ext cx="4980622" cy="333375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5803D"/>
                </a:solidFill>
                <a:latin typeface="Poppins SemiBold"/>
              </a:rPr>
              <a:t>Input &amp; Preprocessing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331368"/>
            <a:ext cx="4462309" cy="229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DM Sans"/>
              </a:rPr>
              <a:t>User / Field Camera: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Captures image of diseased leaf.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688556"/>
            <a:ext cx="47434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DM Sans"/>
              </a:rPr>
              <a:t>Image Storage:</a:t>
            </a:r>
            <a:r>
              <a:rPr sz="1275" b="0" i="0" u="none">
                <a:solidFill>
                  <a:srgbClr val="334155"/>
                </a:solidFill>
                <a:latin typeface="DM Sans"/>
              </a:rPr>
              <a:t> Uploaded directly or pulled from database.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045743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DM Sans"/>
              </a:rPr>
              <a:t>OpenCV Engine:</a:t>
            </a:r>
            <a:r>
              <a:rPr sz="1275" b="0" i="0" u="none">
                <a:solidFill>
                  <a:srgbClr val="334155"/>
                </a:solidFill>
                <a:latin typeface="DM Sans"/>
              </a:rPr>
              <a:t> Performs cropping, noise reduction, color space conversion (RGB to HSV), and green mask masking.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2902743"/>
            <a:ext cx="4980622" cy="333375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5803D"/>
                </a:solidFill>
                <a:latin typeface="Poppins SemiBold"/>
              </a:rPr>
              <a:t>Feature &amp; Diagnosis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331368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DM Sans"/>
              </a:rPr>
              <a:t>Segmentation Module:</a:t>
            </a:r>
            <a:r>
              <a:rPr sz="1275" b="0" i="0" u="none">
                <a:solidFill>
                  <a:srgbClr val="334155"/>
                </a:solidFill>
                <a:latin typeface="DM Sans"/>
              </a:rPr>
              <a:t> Isolates infected lesion regions from healthy green background.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3931443"/>
            <a:ext cx="47434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DM Sans"/>
              </a:rPr>
              <a:t>Model Inference: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Runs deep CNN model / SVM classifier.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4288631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DM Sans"/>
              </a:rPr>
              <a:t>Result &amp; Solution Module:</a:t>
            </a:r>
            <a:r>
              <a:rPr sz="1275" b="0" i="0" u="none">
                <a:solidFill>
                  <a:srgbClr val="334155"/>
                </a:solidFill>
                <a:latin typeface="DM Sans"/>
              </a:rPr>
              <a:t> Displays disease name, confidence score, and suggested treatment.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950368"/>
            <a:ext cx="22860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950368"/>
            <a:ext cx="22860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0550" y="1476374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64E3B"/>
                </a:solidFill>
                <a:latin typeface="Poppins"/>
              </a:rPr>
              <a:t>System 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974055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02BFCCD-30E8-C09A-E76F-441B22A171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2152" y="0"/>
            <a:ext cx="2959510" cy="67429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CFE1566-1B8A-266E-A901-2C5F60FD9B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36" y="60960"/>
            <a:ext cx="929721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516" y="-196645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550693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2700" b="1" i="0" u="none" dirty="0">
                <a:solidFill>
                  <a:srgbClr val="064E3B"/>
                </a:solidFill>
                <a:latin typeface="Poppins"/>
              </a:rPr>
              <a:t>               </a:t>
            </a:r>
            <a:r>
              <a:rPr sz="2700" b="1" i="0" u="none" dirty="0">
                <a:solidFill>
                  <a:srgbClr val="064E3B"/>
                </a:solidFill>
                <a:latin typeface="Poppins"/>
              </a:rPr>
              <a:t>Module 1: 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5229" y="1040585"/>
            <a:ext cx="5286375" cy="285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      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71500" y="1409700"/>
            <a:ext cx="5550693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 u="none" dirty="0">
                <a:solidFill>
                  <a:srgbClr val="15803D"/>
                </a:solidFill>
                <a:latin typeface="Poppins SemiBold"/>
              </a:rPr>
              <a:t>Image Acquisition &amp; Enhancement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3658" y="3070268"/>
            <a:ext cx="11488342" cy="5143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2400" b="1" i="0" u="none" dirty="0">
                <a:solidFill>
                  <a:srgbClr val="334155"/>
                </a:solidFill>
                <a:latin typeface="DM Sans"/>
              </a:rPr>
              <a:t>Image Resizing:</a:t>
            </a:r>
            <a:r>
              <a:rPr sz="2400" b="0" i="0" u="none" dirty="0">
                <a:solidFill>
                  <a:srgbClr val="334155"/>
                </a:solidFill>
                <a:latin typeface="DM Sans"/>
              </a:rPr>
              <a:t> Standardizes input photos to 224x224 dimensions for model input uniformity.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3658" y="4038599"/>
            <a:ext cx="10190484" cy="5143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sz="2400" b="1" i="0" u="none" dirty="0">
                <a:solidFill>
                  <a:srgbClr val="334155"/>
                </a:solidFill>
                <a:latin typeface="DM Sans"/>
              </a:rPr>
              <a:t>Denoising:</a:t>
            </a:r>
            <a:r>
              <a:rPr sz="2400" b="0" i="0" u="none" dirty="0">
                <a:solidFill>
                  <a:srgbClr val="334155"/>
                </a:solidFill>
                <a:latin typeface="DM Sans"/>
              </a:rPr>
              <a:t> Applies Gaussian and Median Filtering in OpenCV to remove background noise.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5205412"/>
            <a:ext cx="10323949" cy="5143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2400" b="1" i="0" u="none" dirty="0">
                <a:solidFill>
                  <a:srgbClr val="334155"/>
                </a:solidFill>
                <a:latin typeface="DM Sans"/>
              </a:rPr>
              <a:t>Color Conversion:</a:t>
            </a:r>
            <a:r>
              <a:rPr sz="2400" b="0" i="0" u="none" dirty="0">
                <a:solidFill>
                  <a:srgbClr val="334155"/>
                </a:solidFill>
                <a:latin typeface="DM Sans"/>
              </a:rPr>
              <a:t> Transforms standard BGR color space to HSV to isolate lesion shades efficiently.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2F695E8-2A77-8021-073C-592498E3B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152" y="0"/>
            <a:ext cx="2959510" cy="6742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CFF17F6-7616-A132-7CE9-AB978F352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35" y="24349"/>
            <a:ext cx="929721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" y="466725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85975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5803D"/>
                </a:solidFill>
                <a:latin typeface="Poppins SemiBold"/>
              </a:rPr>
              <a:t>Leaf Segmentation &amp; Feature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514600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DM Sans"/>
              </a:rPr>
              <a:t>Otsu's Thresholding:</a:t>
            </a:r>
            <a:r>
              <a:rPr sz="1275" b="0" i="0" u="none">
                <a:solidFill>
                  <a:srgbClr val="334155"/>
                </a:solidFill>
                <a:latin typeface="DM Sans"/>
              </a:rPr>
              <a:t> Automatically sets threshold values to separate infected spots from healthy leaf tissue.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114675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DM Sans"/>
              </a:rPr>
              <a:t>K-Means Clustering:</a:t>
            </a:r>
            <a:r>
              <a:rPr sz="1275" b="0" i="0" u="none">
                <a:solidFill>
                  <a:srgbClr val="334155"/>
                </a:solidFill>
                <a:latin typeface="DM Sans"/>
              </a:rPr>
              <a:t> Groups pixels into clusters based on color hue to identify infected areas clearly.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714750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DM Sans"/>
              </a:rPr>
              <a:t>Texture Extraction:</a:t>
            </a:r>
            <a:r>
              <a:rPr sz="1275" b="0" i="0" u="none">
                <a:solidFill>
                  <a:srgbClr val="334155"/>
                </a:solidFill>
                <a:latin typeface="DM Sans"/>
              </a:rPr>
              <a:t> Computes GLCM features (Contrast, Homogeneity, Energy, and Correlation) in Python.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85975"/>
            <a:ext cx="5334000" cy="3619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0856" y="1210346"/>
            <a:ext cx="116014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64E3B"/>
                </a:solidFill>
                <a:latin typeface="Poppins"/>
              </a:rPr>
              <a:t>Module 2: Segmentation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625844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13649A-CDE1-2A15-0F35-430B2F8BF3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152" y="0"/>
            <a:ext cx="2959510" cy="6742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3FCCFCF-B4B4-01F3-D0CD-AB714D1A1C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" y="-9525"/>
            <a:ext cx="926672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1393"/>
            <a:ext cx="12374729" cy="696078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86062"/>
            <a:ext cx="5334000" cy="2219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86062"/>
            <a:ext cx="5334000" cy="2219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3081337"/>
            <a:ext cx="498062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5803D"/>
                </a:solidFill>
                <a:latin typeface="Poppins SemiBold"/>
              </a:rPr>
              <a:t>Convolutional Neural Network (CNN)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509962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DM Sans"/>
              </a:rPr>
              <a:t>Architecture:</a:t>
            </a:r>
            <a:r>
              <a:rPr sz="1275" b="0" i="0" u="none">
                <a:solidFill>
                  <a:srgbClr val="334155"/>
                </a:solidFill>
                <a:latin typeface="DM Sans"/>
              </a:rPr>
              <a:t> Multiple Convolutional, ReLU, MaxPooling, and Dense layers built using TensorFlow / Keras.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110037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DM Sans"/>
              </a:rPr>
              <a:t>Augmentation:</a:t>
            </a:r>
            <a:r>
              <a:rPr sz="1275" b="0" i="0" u="none">
                <a:solidFill>
                  <a:srgbClr val="334155"/>
                </a:solidFill>
                <a:latin typeface="DM Sans"/>
              </a:rPr>
              <a:t> Applies rotation, horizontal flipping, and zoom shifts to prevent overfitting on farm photos.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081337"/>
            <a:ext cx="498062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5803D"/>
                </a:solidFill>
                <a:latin typeface="Poppins SemiBold"/>
              </a:rPr>
              <a:t>Machine Learning Classifiers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509962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DM Sans"/>
              </a:rPr>
              <a:t>Scikit-Learn SVM:</a:t>
            </a:r>
            <a:r>
              <a:rPr sz="1275" b="0" i="0" u="none">
                <a:solidFill>
                  <a:srgbClr val="334155"/>
                </a:solidFill>
                <a:latin typeface="DM Sans"/>
              </a:rPr>
              <a:t> Trains Support Vector Machines using extracted GLCM texture and color histogram features.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4110037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DM Sans"/>
              </a:rPr>
              <a:t>Cross Validation:</a:t>
            </a:r>
            <a:r>
              <a:rPr sz="1275" b="0" i="0" u="none">
                <a:solidFill>
                  <a:srgbClr val="334155"/>
                </a:solidFill>
                <a:latin typeface="DM Sans"/>
              </a:rPr>
              <a:t> Evaluates dataset splits (80% training, 20% testing) to ensure high generalizability.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603" y="1909762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64E3B"/>
                </a:solidFill>
                <a:latin typeface="Poppins"/>
              </a:rPr>
              <a:t>Module 3: Model Training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3397" y="2347912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2FF7821-BF54-D66B-19BC-CC59647E4B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2152" y="0"/>
            <a:ext cx="2959510" cy="6742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207B18C-789B-5FD0-5D80-BDC6002147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36" y="60960"/>
            <a:ext cx="929721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" y="61912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1550" y="3038475"/>
            <a:ext cx="106489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DM Sans"/>
              </a:rPr>
              <a:t>Disease Identification: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Classifies diseases like Early Blight, Late Blight, Black Rot, Powdery Mildew, and Leaf Spot.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550" y="3467100"/>
            <a:ext cx="106489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DM Sans"/>
              </a:rPr>
              <a:t>Severity Score: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Calculates percentage of infected leaf surface area using contour area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3895725"/>
            <a:ext cx="106489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DM Sans"/>
              </a:rPr>
              <a:t>Remedy Advisor: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Recommends tailored chemical sprays, organic bio-pesticides, or agricultural practices.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324350"/>
            <a:ext cx="106489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DM Sans"/>
              </a:rPr>
              <a:t>Automated Report: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Generates a summary diagnosis printable for farmers and agricultural experts.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62287"/>
            <a:ext cx="209550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90912"/>
            <a:ext cx="161925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19537"/>
            <a:ext cx="161925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348162"/>
            <a:ext cx="23812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0550" y="1719263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64E3B"/>
                </a:solidFill>
                <a:latin typeface="Poppins"/>
              </a:rPr>
              <a:t>Module 4: Disease Diagnosis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2450" y="2233612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204899B-A477-A1CF-535C-9A4B593260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3440" y="25791"/>
            <a:ext cx="2959510" cy="6742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858F726-27F8-FC67-C18D-FF4D042C63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36" y="60960"/>
            <a:ext cx="929721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209549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57462"/>
            <a:ext cx="3492549" cy="2676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557462"/>
            <a:ext cx="3492549" cy="2676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557462"/>
            <a:ext cx="3492549" cy="2676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4218" y="3471862"/>
            <a:ext cx="314711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15803D"/>
                </a:solidFill>
                <a:latin typeface="Poppins SemiBold"/>
              </a:rPr>
              <a:t>Core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900487"/>
            <a:ext cx="2997249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DM Sans"/>
              </a:rPr>
              <a:t>Python 3.10+</a:t>
            </a:r>
            <a:r>
              <a:rPr sz="1275" b="0" i="0" u="none">
                <a:solidFill>
                  <a:srgbClr val="334155"/>
                </a:solidFill>
                <a:latin typeface="DM Sans"/>
              </a:rPr>
              <a:t> providing robust scientific computing, concise syntax, and extensive computer vision packages.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2518" y="3471862"/>
            <a:ext cx="314711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15803D"/>
                </a:solidFill>
                <a:latin typeface="Poppins SemiBold"/>
              </a:rPr>
              <a:t>Computer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7449" y="3900487"/>
            <a:ext cx="299724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DM Sans"/>
              </a:rPr>
              <a:t>OpenCV &amp; PIL</a:t>
            </a:r>
            <a:r>
              <a:rPr sz="1275" b="0" i="0" u="none">
                <a:solidFill>
                  <a:srgbClr val="334155"/>
                </a:solidFill>
                <a:latin typeface="DM Sans"/>
              </a:rPr>
              <a:t> for image read, resize, color conversion, contour extraction, and thresholding operations.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0817" y="3471862"/>
            <a:ext cx="314711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15803D"/>
                </a:solidFill>
                <a:latin typeface="Poppins SemiBold"/>
              </a:rPr>
              <a:t>AI Frameworks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75749" y="3900487"/>
            <a:ext cx="2997249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DM Sans"/>
              </a:rPr>
              <a:t>TensorFlow, Keras, Scikit-Learn, NumPy</a:t>
            </a:r>
            <a:r>
              <a:rPr sz="1275" b="0" i="0" u="none">
                <a:solidFill>
                  <a:srgbClr val="334155"/>
                </a:solidFill>
                <a:latin typeface="DM Sans"/>
              </a:rPr>
              <a:t> for deep learning model training, matrix math, and feature evaluation.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1487" y="2852737"/>
            <a:ext cx="352425" cy="400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2162" y="2852737"/>
            <a:ext cx="447675" cy="4000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1887" y="2852737"/>
            <a:ext cx="504825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9112" y="1547812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64E3B"/>
                </a:solidFill>
                <a:latin typeface="Poppins"/>
              </a:rPr>
              <a:t>Implementation Stack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499" y="2013154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AD0B048-56FC-AEF2-ADA2-82669C6EE2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9469" y="49603"/>
            <a:ext cx="2959510" cy="67429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4CB5A8F-5A1E-E897-21AD-BA2DD531D4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636" y="60960"/>
            <a:ext cx="929721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13827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14029"/>
            <a:ext cx="5334000" cy="279201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14029"/>
            <a:ext cx="5334000" cy="26053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285404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5803D"/>
                </a:solidFill>
                <a:latin typeface="Poppins SemiBold"/>
              </a:rPr>
              <a:t>Preprocessing &amp; Masking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285404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5803D"/>
                </a:solidFill>
                <a:latin typeface="Poppins SemiBold"/>
              </a:rPr>
              <a:t>Model Inference &amp;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550" y="1378667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64E3B"/>
                </a:solidFill>
                <a:latin typeface="Poppins"/>
              </a:rPr>
              <a:t>Source Code Highlights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931117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77965B-DFDC-0D65-51BD-F7E1715135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2152" y="0"/>
            <a:ext cx="2959510" cy="6742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0DC13A-D5E3-A5F4-C691-E5C7F781B9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36" y="60960"/>
            <a:ext cx="929721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13827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09700"/>
            <a:ext cx="11049000" cy="4972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05350"/>
            <a:ext cx="11049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1" u="none">
                <a:solidFill>
                  <a:srgbClr val="334155"/>
                </a:solidFill>
                <a:latin typeface="DM Sans"/>
              </a:rPr>
              <a:t>The CNN model achieved superior performance with 98.4% accuracy across PlantVillage multi-crop dataset, outperforming traditional machine learning algorithms.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674" y="1451027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64E3B"/>
                </a:solidFill>
                <a:latin typeface="Poppins"/>
              </a:rPr>
              <a:t>Results &amp;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674" y="1970446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080372-C62D-A972-0D25-9105EA68C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152" y="0"/>
            <a:ext cx="2959510" cy="6742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BEEB2D-C703-D18C-635D-B3E12E9AB9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36" y="60960"/>
            <a:ext cx="929721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57462"/>
            <a:ext cx="3492549" cy="2676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557462"/>
            <a:ext cx="3492549" cy="2676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557462"/>
            <a:ext cx="3492549" cy="2676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4218" y="3471862"/>
            <a:ext cx="314711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15803D"/>
                </a:solidFill>
                <a:latin typeface="Poppins SemiBold"/>
              </a:rPr>
              <a:t>Mobile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900487"/>
            <a:ext cx="299724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Deploy model via TensorFlow Lite into an Android/iOS mobile application for instant field offline diagnosis.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2518" y="3471862"/>
            <a:ext cx="314711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15803D"/>
                </a:solidFill>
                <a:latin typeface="Poppins SemiBold"/>
              </a:rPr>
              <a:t>Drone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7449" y="3900487"/>
            <a:ext cx="299724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Attach camera module to agricultural drones for automated aerial monitoring over large crop fields.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0817" y="3471862"/>
            <a:ext cx="314711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15803D"/>
                </a:solidFill>
                <a:latin typeface="Poppins SemiBold"/>
              </a:rPr>
              <a:t>Cloud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75749" y="3900487"/>
            <a:ext cx="2997249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Build cloud-connected database tracking disease outbreaks geographically and advising local farming communities.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5300" y="2852737"/>
            <a:ext cx="304800" cy="400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1887" y="2852737"/>
            <a:ext cx="504825" cy="4000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0550" y="1567322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64E3B"/>
                </a:solidFill>
                <a:latin typeface="Poppins"/>
              </a:rPr>
              <a:t>Future Scope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9823" y="2071687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2727DA5-9C54-37FC-BEE7-AB709181A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2152" y="0"/>
            <a:ext cx="2959510" cy="67429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CD35D54-AC09-B1F6-2740-7D91E8CD2F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636" y="60960"/>
            <a:ext cx="929721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" y="47625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1550" y="2824162"/>
            <a:ext cx="106489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DM Sans"/>
              </a:rPr>
              <a:t>Developed a functional and automated </a:t>
            </a:r>
            <a:r>
              <a:rPr sz="1350" b="1" i="0" u="none">
                <a:solidFill>
                  <a:srgbClr val="334155"/>
                </a:solidFill>
                <a:latin typeface="DM Sans"/>
              </a:rPr>
              <a:t>Crop Disease Detection Application in Python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550" y="3252787"/>
            <a:ext cx="106489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DM Sans"/>
              </a:rPr>
              <a:t>Successfully processes leaf images using </a:t>
            </a:r>
            <a:r>
              <a:rPr sz="1350" b="1" i="0" u="none">
                <a:solidFill>
                  <a:srgbClr val="334155"/>
                </a:solidFill>
                <a:latin typeface="DM Sans"/>
              </a:rPr>
              <a:t>OpenCV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for noise reduction and color segmentation.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3681412"/>
            <a:ext cx="106489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DM Sans"/>
              </a:rPr>
              <a:t>Achieved high classification accuracy using deep learning architectures on infected plant samples.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110037"/>
            <a:ext cx="106489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DM Sans"/>
              </a:rPr>
              <a:t>Supports sustainable agricultural practices by facilitating targeted disease treatments.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4538662"/>
            <a:ext cx="106489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DM Sans"/>
              </a:rPr>
              <a:t>Demonstrates the practical integration of Python image processing libraries in modern computer vision systems.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47975"/>
            <a:ext cx="2095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76600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05225"/>
            <a:ext cx="20955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33850"/>
            <a:ext cx="20955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562475"/>
            <a:ext cx="209550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1789625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64E3B"/>
                </a:solidFill>
                <a:latin typeface="Poppins"/>
              </a:rPr>
              <a:t>Conclusion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2313500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82C64FB-2F98-4ABD-A8D9-46158FC98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152" y="0"/>
            <a:ext cx="2959510" cy="6742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F311188-751C-6EA0-8E1E-68E6F87805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36" y="60960"/>
            <a:ext cx="929721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7" y="4532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1550" y="3038475"/>
            <a:ext cx="106489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DM Sans"/>
              </a:rPr>
              <a:t>Mohanty, S. P., Hughes, D. P., &amp; Salathé, M. (2016). </a:t>
            </a:r>
            <a:r>
              <a:rPr sz="1350" b="0" i="1" u="none">
                <a:solidFill>
                  <a:srgbClr val="166534"/>
                </a:solidFill>
                <a:latin typeface="DM Sans"/>
              </a:rPr>
              <a:t>Using Deep Learning for Image-Based Plant Disease Detection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. Frontiers in Plant Science, 7, 1419.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550" y="3467100"/>
            <a:ext cx="106489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DM Sans"/>
              </a:rPr>
              <a:t>Kartikeyan, P., &amp; Shrivastava, G. (2021). </a:t>
            </a:r>
            <a:r>
              <a:rPr sz="1350" b="0" i="1" u="none">
                <a:solidFill>
                  <a:srgbClr val="166534"/>
                </a:solidFill>
                <a:latin typeface="DM Sans"/>
              </a:rPr>
              <a:t>Review on Emerging Trends in Detection of Plant Diseases using Image Processing with Machine Learning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. IJCA, 174(11), 39-48.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3895725"/>
            <a:ext cx="106489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DM Sans"/>
              </a:rPr>
              <a:t>Thushar, B., et al. (2022). </a:t>
            </a:r>
            <a:r>
              <a:rPr sz="1350" b="0" i="1" u="none">
                <a:solidFill>
                  <a:srgbClr val="166534"/>
                </a:solidFill>
                <a:latin typeface="DM Sans"/>
              </a:rPr>
              <a:t>Crop Disease Detection Using Image Processing Technique and CNN Networks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. Medium Research Series.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324350"/>
            <a:ext cx="106489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DM Sans"/>
              </a:rPr>
              <a:t>Joseph, A., Patil, S., &amp; More, R. (2024). </a:t>
            </a:r>
            <a:r>
              <a:rPr sz="1350" b="0" i="1" u="none">
                <a:solidFill>
                  <a:srgbClr val="166534"/>
                </a:solidFill>
                <a:latin typeface="DM Sans"/>
              </a:rPr>
              <a:t>Image-Based Crop Disease Detection Using Machine Learning and Computer Vision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. ResearchGate Publications.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62287"/>
            <a:ext cx="180975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90912"/>
            <a:ext cx="180975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19537"/>
            <a:ext cx="180975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348162"/>
            <a:ext cx="18097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1952625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64E3B"/>
                </a:solidFill>
                <a:latin typeface="Poppins"/>
              </a:rPr>
              <a:t>Key References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2519362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F30D33F-B51A-25CC-2702-1C039D27B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2758" y="0"/>
            <a:ext cx="2959510" cy="6742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322F4C1-8035-978F-07DB-67D16121B6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36" y="60960"/>
            <a:ext cx="929721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77" y="-186813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3598" y="2727837"/>
            <a:ext cx="116014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064E3B"/>
                </a:solidFill>
                <a:latin typeface="Poppins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9823" y="3652662"/>
            <a:ext cx="110490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334155"/>
                </a:solidFill>
                <a:latin typeface="DM Sans"/>
              </a:rPr>
              <a:t>Crop Disease Detection System | CSA0</a:t>
            </a:r>
            <a:r>
              <a:rPr lang="en-IN" sz="1350" b="0" i="0" u="none" dirty="0">
                <a:solidFill>
                  <a:srgbClr val="334155"/>
                </a:solidFill>
                <a:latin typeface="DM Sans"/>
              </a:rPr>
              <a:t>8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01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1122</Words>
  <Application>Microsoft Office PowerPoint</Application>
  <PresentationFormat>Widescreen</PresentationFormat>
  <Paragraphs>132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DM Sans</vt:lpstr>
      <vt:lpstr>DM Sans Medium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Tamiz</dc:creator>
  <cp:keywords/>
  <dc:description>generated using python-pptx</dc:description>
  <cp:lastModifiedBy>tamiz s</cp:lastModifiedBy>
  <cp:revision>2</cp:revision>
  <dcterms:created xsi:type="dcterms:W3CDTF">2013-01-27T09:14:16Z</dcterms:created>
  <dcterms:modified xsi:type="dcterms:W3CDTF">2026-09-01T03:57:17Z</dcterms:modified>
  <cp:category/>
</cp:coreProperties>
</file>